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atrick Hand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0012" y="2416373"/>
            <a:ext cx="6179784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Campus Marketplace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20012" y="3239195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college-only platform where students buy, sell, and discover second-hand items — built entirely on free-tier services.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Cost: ₹0 / $0.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20012" y="4128988"/>
            <a:ext cx="1340809" cy="312638"/>
          </a:xfrm>
          <a:prstGeom prst="roundRect">
            <a:avLst>
              <a:gd name="adj" fmla="val 22111"/>
            </a:avLst>
          </a:prstGeom>
          <a:solidFill>
            <a:srgbClr val="E6E6E6"/>
          </a:solidFill>
          <a:ln/>
        </p:spPr>
      </p:sp>
      <p:sp>
        <p:nvSpPr>
          <p:cNvPr id="6" name="Text 3"/>
          <p:cNvSpPr/>
          <p:nvPr/>
        </p:nvSpPr>
        <p:spPr>
          <a:xfrm>
            <a:off x="843437" y="4190702"/>
            <a:ext cx="1703543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MVP IN PROGRESS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163609" y="4128988"/>
            <a:ext cx="996727" cy="312638"/>
          </a:xfrm>
          <a:prstGeom prst="roundRect">
            <a:avLst>
              <a:gd name="adj" fmla="val 22111"/>
            </a:avLst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7034" y="4190702"/>
            <a:ext cx="1359461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MIT LICENSE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63124" y="4128988"/>
            <a:ext cx="1407978" cy="312638"/>
          </a:xfrm>
          <a:prstGeom prst="roundRect">
            <a:avLst>
              <a:gd name="adj" fmla="val 22111"/>
            </a:avLst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6549" y="4190702"/>
            <a:ext cx="1770713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RUNNING COST: ₹0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627658"/>
            <a:ext cx="813970" cy="288131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3714" y="684510"/>
            <a:ext cx="1196151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20012" y="985639"/>
            <a:ext cx="10751670" cy="47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Project Overview</a:t>
            </a:r>
            <a:endParaRPr lang="en-US" sz="2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041922"/>
            <a:ext cx="6826575" cy="3868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15682" y="1879302"/>
            <a:ext cx="3462251" cy="874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Campus Marketplace</a:t>
            </a:r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replaces chaotic WhatsApp and Telegram groups with one organised, searchable platform. Verified students can: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15682" y="2911475"/>
            <a:ext cx="3462251" cy="1349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80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Post listings with photos</a:t>
            </a:r>
            <a:endParaRPr lang="en-US" sz="1450" dirty="0"/>
          </a:p>
          <a:p>
            <a:pPr algn="l" marL="294640" indent="-294640">
              <a:lnSpc>
                <a:spcPct val="1280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Browse, search, and filter products</a:t>
            </a:r>
            <a:endParaRPr lang="en-US" sz="1450" dirty="0"/>
          </a:p>
          <a:p>
            <a:pPr algn="l" marL="294640" indent="-294640">
              <a:lnSpc>
                <a:spcPct val="1280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Contact sellers directly via WhatsApp</a:t>
            </a:r>
            <a:endParaRPr lang="en-US" sz="1450" dirty="0"/>
          </a:p>
          <a:p>
            <a:pPr algn="l" marL="294640" indent="-294640">
              <a:lnSpc>
                <a:spcPct val="12800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Manage listings and mark items as sold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15682" y="4457898"/>
            <a:ext cx="3462251" cy="1575792"/>
          </a:xfrm>
          <a:prstGeom prst="roundRect">
            <a:avLst>
              <a:gd name="adj" fmla="val 5055"/>
            </a:avLst>
          </a:prstGeom>
          <a:solidFill>
            <a:srgbClr val="E6E6E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5285" y="4723606"/>
            <a:ext cx="237028" cy="18960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31915" y="4662587"/>
            <a:ext cx="2656416" cy="1166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first release is a focused MVP — no real-time chat, payments, or delivery. Built on free-tier services with no credit card required.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91898" y="1070570"/>
            <a:ext cx="807323" cy="312638"/>
          </a:xfrm>
          <a:prstGeom prst="roundRect">
            <a:avLst>
              <a:gd name="adj" fmla="val 22111"/>
            </a:avLst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15323" y="1132284"/>
            <a:ext cx="1170057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91898" y="1465461"/>
            <a:ext cx="6179784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Problem with WhatsApp Groups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291898" y="2288282"/>
            <a:ext cx="2987005" cy="1811338"/>
          </a:xfrm>
          <a:prstGeom prst="roundRect">
            <a:avLst>
              <a:gd name="adj" fmla="val 4770"/>
            </a:avLst>
          </a:prstGeom>
          <a:solidFill>
            <a:srgbClr val="E6E6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10273" y="2506663"/>
            <a:ext cx="255025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Hard to Search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10273" y="2893616"/>
            <a:ext cx="2550255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 keyword search, categories, or price filters. Old listings disappear under new messages.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484578" y="2288282"/>
            <a:ext cx="2987104" cy="1811338"/>
          </a:xfrm>
          <a:prstGeom prst="roundRect">
            <a:avLst>
              <a:gd name="adj" fmla="val 4770"/>
            </a:avLst>
          </a:prstGeom>
          <a:solidFill>
            <a:srgbClr val="E6E6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02953" y="2506663"/>
            <a:ext cx="2550354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No Listing Management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02953" y="2893616"/>
            <a:ext cx="255035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Sellers can't edit, delete, or mark items as sold. Posts are permanent and unmanageable.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291898" y="4305300"/>
            <a:ext cx="6179784" cy="1482130"/>
          </a:xfrm>
          <a:prstGeom prst="roundRect">
            <a:avLst>
              <a:gd name="adj" fmla="val 5830"/>
            </a:avLst>
          </a:prstGeom>
          <a:solidFill>
            <a:srgbClr val="E6E6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10273" y="4523680"/>
            <a:ext cx="5743034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No Campus Restriction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10273" y="4910634"/>
            <a:ext cx="574303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Groups are open and unverified. There's no way to confirm buyers or sellers are actual students.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791071"/>
            <a:ext cx="634290" cy="312638"/>
          </a:xfrm>
          <a:prstGeom prst="roundRect">
            <a:avLst>
              <a:gd name="adj" fmla="val 22111"/>
            </a:avLst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437" y="852785"/>
            <a:ext cx="997024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GOALS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1185962"/>
            <a:ext cx="1075167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Objectives &amp; Target Users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2008783"/>
            <a:ext cx="411450" cy="41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0012" y="2677418"/>
            <a:ext cx="524725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College-Restricted Access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0012" y="3058021"/>
            <a:ext cx="5247251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Only students with @college-domain emails can register and log in.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432" y="2008783"/>
            <a:ext cx="411450" cy="41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24432" y="2677418"/>
            <a:ext cx="524725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Full Listing Management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224432" y="3058021"/>
            <a:ext cx="524725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Create, edit, and delete listings with 1–3 images, price, category, and condition.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4127897"/>
            <a:ext cx="411450" cy="41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0012" y="4796532"/>
            <a:ext cx="524725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Search &amp; Filter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20012" y="5177135"/>
            <a:ext cx="5247251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Browse by keyword, category, price range, and item condition.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4432" y="4127897"/>
            <a:ext cx="411450" cy="411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24432" y="4796532"/>
            <a:ext cx="524725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WhatsApp Contact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224432" y="5177135"/>
            <a:ext cx="5247251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One tap opens a WhatsApp chat with the seller via wa.me links.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20012" y="5737721"/>
            <a:ext cx="1136125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Every student is both a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buyer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and a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seller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An admin role (future) will handle moderation and user management.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65745"/>
            <a:ext cx="327910" cy="156270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725" y="596602"/>
            <a:ext cx="814069" cy="9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SCOPE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20012" y="742553"/>
            <a:ext cx="107516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MVP Scope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134666"/>
            <a:ext cx="5250426" cy="52505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7607" y="3264991"/>
            <a:ext cx="525042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Buyer Flow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227607" y="3444974"/>
            <a:ext cx="5860010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Register → Browse → Search &amp; Filter → View Details → Contact Seller → Meet on Campus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27607" y="3619798"/>
            <a:ext cx="525042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Seller Flow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27607" y="3799780"/>
            <a:ext cx="5860010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Register → Create Listing → Upload Images → Publish → Receive Contact → Mark as Sold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227607" y="3981053"/>
            <a:ext cx="5250426" cy="267295"/>
          </a:xfrm>
          <a:prstGeom prst="roundRect">
            <a:avLst>
              <a:gd name="adj" fmla="val 16164"/>
            </a:avLst>
          </a:prstGeom>
          <a:solidFill>
            <a:srgbClr val="E6E6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395" y="4063405"/>
            <a:ext cx="128584" cy="102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61767" y="4052987"/>
            <a:ext cx="5423062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Out of scope for MVP: real-time chat, in-app payments, delivery, and admin dashboard.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77751"/>
            <a:ext cx="947615" cy="293092"/>
          </a:xfrm>
          <a:prstGeom prst="roundRect">
            <a:avLst>
              <a:gd name="adj" fmla="val 22111"/>
            </a:avLst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5699" y="635595"/>
            <a:ext cx="1325827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20012" y="943173"/>
            <a:ext cx="10751670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Technology Stack — 100% Free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0012" y="1696541"/>
          <a:ext cx="9143771" cy="914400"/>
        </p:xfrm>
        <a:graphic>
          <a:graphicData uri="http://schemas.openxmlformats.org/drawingml/2006/table">
            <a:tbl>
              <a:tblPr/>
              <a:tblGrid>
                <a:gridCol w="2687918"/>
                <a:gridCol w="2687918"/>
                <a:gridCol w="2687918"/>
                <a:gridCol w="2687918"/>
              </a:tblGrid>
              <a:tr h="531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Layer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Technology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Free Tier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Card?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38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Frontend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HTML5, CSS3, Vanilla JS / React + Vite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Open source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 No</a:t>
                      </a:r>
                      <a:endParaRPr lang="en-US" sz="15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Database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Supabase PostgreSQL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500 MB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 No</a:t>
                      </a:r>
                      <a:endParaRPr lang="en-US" sz="15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Auth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Supabase Auth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50K MAU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 No</a:t>
                      </a:r>
                      <a:endParaRPr lang="en-US" sz="15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Storage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Supabase Storage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1 GB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 No</a:t>
                      </a:r>
                      <a:endParaRPr lang="en-US" sz="15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2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Emails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Brevo SMTP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~300/day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 No</a:t>
                      </a:r>
                      <a:endParaRPr lang="en-US" sz="15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Hosting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Cloudflare Pages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Unlimited</a:t>
                      </a:r>
                      <a:endParaRPr lang="en-US" sz="1500" dirty="0">
                        <a:latin typeface="Patrick Hand" charset="0"/>
                        <a:ea typeface="Patrick Hand" charset="0"/>
                        <a:cs typeface="Patrick Hand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83838"/>
                          </a:solidFill>
                          <a:latin typeface="Patrick Hand" pitchFamily="34" charset="0"/>
                          <a:ea typeface="Patrick Hand" pitchFamily="34" charset="-122"/>
                          <a:cs typeface="Patrick Hand" pitchFamily="34" charset="-120"/>
                        </a:rPr>
                        <a:t> No</a:t>
                      </a:r>
                      <a:endParaRPr lang="en-US" sz="15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92876" marR="192876" marT="6350" marB="6350" anchor="ctr">
                    <a:lnL w="12700" cap="flat" cmpd="sng" algn="ctr">
                      <a:solidFill>
                        <a:srgbClr val="F7F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20012" y="5981204"/>
            <a:ext cx="11361255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5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Total monthly cost: ₹0.</a:t>
            </a:r>
            <a:pPr algn="l" indent="0" marL="0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Connect Brevo SMTP in Supabase → Auth → SMTP Settings for real verification emails.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565745"/>
            <a:ext cx="581209" cy="156270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1725" y="596602"/>
            <a:ext cx="1067369" cy="9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ARCHITECTURE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20012" y="742553"/>
            <a:ext cx="107516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Database &amp; System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0012" y="3230364"/>
            <a:ext cx="525042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Why Supabase?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0012" y="3410347"/>
            <a:ext cx="5250426" cy="547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PostgreSQL with full-text search and pg_trgm fuzzy search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Row Level Security (RLS) enforces all permissions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 GB image storage, no credit card</a:t>
            </a:r>
            <a:endParaRPr lang="en-US" sz="800" dirty="0"/>
          </a:p>
          <a:p>
            <a:pPr algn="l" marL="162560" indent="-162560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Real SQL — ideal for DBMS coursework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20012" y="4015780"/>
            <a:ext cx="5250426" cy="267295"/>
          </a:xfrm>
          <a:prstGeom prst="roundRect">
            <a:avLst>
              <a:gd name="adj" fmla="val 16164"/>
            </a:avLst>
          </a:prstGeom>
          <a:solidFill>
            <a:srgbClr val="E6E6E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801" y="4098131"/>
            <a:ext cx="128584" cy="102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4173" y="4087713"/>
            <a:ext cx="5423062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Supabase pauses after 7 days of inactivity. A GitHub Actions workflow pings the DB twice weekly to keep it alive.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607" y="1134666"/>
            <a:ext cx="5250426" cy="525055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0012" y="6500912"/>
            <a:ext cx="11361255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app needs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 custom backend server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The browser talks to Supabase directly, and Row Level Security enforces every permission at the database level.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1034256"/>
            <a:ext cx="1317294" cy="312638"/>
          </a:xfrm>
          <a:prstGeom prst="roundRect">
            <a:avLst>
              <a:gd name="adj" fmla="val 22111"/>
            </a:avLst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437" y="1095970"/>
            <a:ext cx="168002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&amp; SECURITY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1429147"/>
            <a:ext cx="1075167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Database Design &amp; Security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20012" y="2457648"/>
            <a:ext cx="51249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Core Tables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0012" y="2920504"/>
            <a:ext cx="5124917" cy="186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profiles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id, full_name, college_email, phone, created_at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categories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id, name, slug, parent_id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products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id, seller_id, title, description, price, category_id, condition, status, created_at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product_images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id, product_id, image_url, sort_order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0012" y="4967486"/>
            <a:ext cx="5124917" cy="664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All tables include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/ 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timestamps. Foreign keys enforce referential integrity.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3115" y="2457648"/>
            <a:ext cx="51249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Row Level Security (RLS)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3115" y="2920504"/>
            <a:ext cx="5124917" cy="187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SELECT products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: everyone can read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INSERT products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: only authenticated users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UPDATE / DELETE products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: only the owner (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highlight>
                  <a:srgbClr val="EAEA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auth.uid() = seller_id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)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profiles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: users can only read and update their own row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3115" y="4980186"/>
            <a:ext cx="5124917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RLS is enforced at the database level — even a compromised client cannot bypass these rules.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1115318"/>
            <a:ext cx="1367498" cy="312638"/>
          </a:xfrm>
          <a:prstGeom prst="roundRect">
            <a:avLst>
              <a:gd name="adj" fmla="val 22111"/>
            </a:avLst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3437" y="1177032"/>
            <a:ext cx="1730232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UX &amp; OPERATIONS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20012" y="1510209"/>
            <a:ext cx="1075167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App Screens &amp; Staying Free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333030"/>
            <a:ext cx="1447069" cy="8943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0012" y="3484563"/>
            <a:ext cx="249499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Auth Screens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0012" y="3865166"/>
            <a:ext cx="2494991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Register, login, forgot password — restricted to college email domain.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173" y="2333030"/>
            <a:ext cx="1447069" cy="8943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2173" y="3484563"/>
            <a:ext cx="249509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Marketplace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72173" y="3865166"/>
            <a:ext cx="2495091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Browse all listings with search, category, price, and condition filters.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432" y="2333030"/>
            <a:ext cx="1447069" cy="89435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24432" y="3484563"/>
            <a:ext cx="249499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Product Details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224432" y="3865166"/>
            <a:ext cx="2494991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Photos, description, price, seller info, and WhatsApp contact button.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6592" y="2333030"/>
            <a:ext cx="1447069" cy="89435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76592" y="3484563"/>
            <a:ext cx="249509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My Listings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976592" y="3865166"/>
            <a:ext cx="2495091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Manage your posts — edit details, delete, or mark items as sold.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20012" y="5084167"/>
            <a:ext cx="1075167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Free-tier guardrails: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Compress images to WebP (~200 KB each), enforce 3-image limit, purge old listings quarterly, and use a GitHub Actions cron job to ping Supabase twice weekly (prevents auto-pause).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12" y="615553"/>
            <a:ext cx="634290" cy="239316"/>
          </a:xfrm>
          <a:prstGeom prst="roundRect">
            <a:avLst>
              <a:gd name="adj" fmla="val 22115"/>
            </a:avLst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4466" y="662781"/>
            <a:ext cx="1054967" cy="144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20012" y="903089"/>
            <a:ext cx="10751670" cy="3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Development Plan &amp; Future Scope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6086323" y="1477665"/>
            <a:ext cx="19050" cy="3740745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5465229" y="1645345"/>
            <a:ext cx="472468" cy="19050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5918647" y="1477665"/>
            <a:ext cx="354401" cy="354409"/>
          </a:xfrm>
          <a:prstGeom prst="roundRect">
            <a:avLst>
              <a:gd name="adj" fmla="val 18667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01344" y="1536750"/>
            <a:ext cx="1890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20012" y="1531739"/>
            <a:ext cx="4588256" cy="19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Week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0012" y="1801019"/>
            <a:ext cx="4588256" cy="22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Project setup, Supabase config, Brevo SMTP, Auth screens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3998" y="2516584"/>
            <a:ext cx="472468" cy="19050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18647" y="2348905"/>
            <a:ext cx="354401" cy="354409"/>
          </a:xfrm>
          <a:prstGeom prst="roundRect">
            <a:avLst>
              <a:gd name="adj" fmla="val 18667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1344" y="2407989"/>
            <a:ext cx="1890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83426" y="2402979"/>
            <a:ext cx="4588256" cy="19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Week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83426" y="2672259"/>
            <a:ext cx="4588256" cy="22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Database schema, RLS policies, Create Listing with image upload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65229" y="3294261"/>
            <a:ext cx="472468" cy="19050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17" name="Shape 15"/>
          <p:cNvSpPr/>
          <p:nvPr/>
        </p:nvSpPr>
        <p:spPr>
          <a:xfrm>
            <a:off x="5918647" y="3126581"/>
            <a:ext cx="354401" cy="354409"/>
          </a:xfrm>
          <a:prstGeom prst="roundRect">
            <a:avLst>
              <a:gd name="adj" fmla="val 18667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01344" y="3185666"/>
            <a:ext cx="1890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0012" y="3180655"/>
            <a:ext cx="4588256" cy="19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Week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0012" y="3449935"/>
            <a:ext cx="4588256" cy="22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Marketplace browse, search, filters, Product Details, My Listings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53998" y="4071938"/>
            <a:ext cx="472468" cy="19050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22" name="Shape 20"/>
          <p:cNvSpPr/>
          <p:nvPr/>
        </p:nvSpPr>
        <p:spPr>
          <a:xfrm>
            <a:off x="5918647" y="3904258"/>
            <a:ext cx="354401" cy="354409"/>
          </a:xfrm>
          <a:prstGeom prst="roundRect">
            <a:avLst>
              <a:gd name="adj" fmla="val 18667"/>
            </a:avLst>
          </a:prstGeom>
          <a:solidFill>
            <a:srgbClr val="E6E6E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01344" y="3963343"/>
            <a:ext cx="18900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883426" y="3958332"/>
            <a:ext cx="4588256" cy="19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Week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83426" y="4227612"/>
            <a:ext cx="4588256" cy="22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Testing, deployment to Cloudflare Pages, demo preparation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0012" y="5354042"/>
            <a:ext cx="11361255" cy="22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Future (free-tier only):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Admin dashboard, email notifications for new listings, bookmarking, and advanced search with PostgreSQL full-text ranking. No paid services planned.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0012" y="5712222"/>
            <a:ext cx="10751670" cy="530126"/>
          </a:xfrm>
          <a:prstGeom prst="roundRect">
            <a:avLst>
              <a:gd name="adj" fmla="val 12479"/>
            </a:avLst>
          </a:prstGeom>
          <a:solidFill>
            <a:srgbClr val="E6E6E6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469" y="5886648"/>
            <a:ext cx="196845" cy="1574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31770" y="5872063"/>
            <a:ext cx="10692041" cy="22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Academic value: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This project demonstrates RDBMS design, SQL joins, authentication, API integration, deployment, and security — all at zero cost.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2026-09-25T18:01:27Z</dcterms:created>
  <dcterms:modified xsi:type="dcterms:W3CDTF">2026-09-25T18:01:27Z</dcterms:modified>
</cp:coreProperties>
</file>